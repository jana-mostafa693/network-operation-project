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NetZone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&amp; Access Control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5029200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VLAN Segmentation  ·  ACL Access Policies  ·  Hierarchical Three-Tier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Arsanious Nashaat – 240101749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Hoda Hossam – 240100541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Mostafa – 240103050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Ahmed – 240101436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Ehab – 240102397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834640" cy="25603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704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VLANs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Finance · HR · POS · Guest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114300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1143000"/>
            <a:ext cx="2834640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704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Hierarchy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Distribution / Access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143000"/>
            <a:ext cx="2834640" cy="25603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11704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ACLs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146304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ACLs on MLS + Router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651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network into five isolated VLANs by department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inter-VLAN routing via a Layer 3 multilayer switch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granular access control between departments using ACLs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Guest VLAN from all internal resources and the internet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internet access to all departments except Guest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234440" cy="10058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27632" y="1097280"/>
            <a:ext cx="7223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8308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2901 Router0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via gig0/1 · Downlink to MLS via gig0/0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1234440" cy="10058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3172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LAYER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27632" y="2331720"/>
            <a:ext cx="7223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2423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3560-24PS Multilayer Switch0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Inter-VLAN routing via SVIs · Uplinks gig1/0/1–5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1234440" cy="10058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56616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27632" y="3566160"/>
            <a:ext cx="7223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83080" y="3657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Cisco 2960-24TT (Admin, Finance, HR, POS)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trunked to MLS via fa0/3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Guest VLAN (VLAN 50): Dedicated 2960-24TT connects directly to Router0 fa0/1, bypassing the multilayer switch entirely for security isolation.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&amp; VLAN Scheme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2011680"/>
                <a:gridCol w="1828800"/>
                <a:gridCol w="219456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PC0, PC1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PC2, PC3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PC4, Laptop0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PC5, Server1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PC6, Laptop1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VLANs route through SVIs on Multilayer Switch0 except Guest (routes via Router0 fa0/1)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64592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97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(VLAN 10)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721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— all VLANs + internet. No restrictions.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92808"/>
            <a:ext cx="164592" cy="65836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47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(VLAN 20)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219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Admin, POS, Internet. Blocked from HR &amp; Guest.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42616"/>
            <a:ext cx="164592" cy="6583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(VLAN 30)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Admin, POS, Internet. Blocked from Finance &amp; Guest.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74320" y="3392424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92424"/>
            <a:ext cx="164592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47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(VLAN 40)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7216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all internal VLANs + Internet. No outbound restrictions.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42232"/>
            <a:ext cx="164592" cy="65836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97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(VLAN 50)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4714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from everything — all internal VLANs AND internet.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Traffic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371600" cy="6217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\ Dest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051560"/>
            <a:ext cx="141732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05156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(10)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051560"/>
            <a:ext cx="141732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05156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(20)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051560"/>
            <a:ext cx="141732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05156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(30)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051560"/>
            <a:ext cx="141732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05156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(40)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60920" y="1051560"/>
            <a:ext cx="141732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105156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(50)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673352"/>
            <a:ext cx="137160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673352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(10)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91640" y="1673352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1673352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1673352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1673352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1673352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1673352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673352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673352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1673352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1673352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295144"/>
            <a:ext cx="137160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29514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(20)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91640" y="2295144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1691640" y="229514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08960" y="2295144"/>
            <a:ext cx="14173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108960" y="229514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26280" y="2295144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229514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2295144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0" y="229514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60920" y="2295144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9" name="Text 37"/>
          <p:cNvSpPr/>
          <p:nvPr/>
        </p:nvSpPr>
        <p:spPr>
          <a:xfrm>
            <a:off x="7360920" y="229514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2916936"/>
            <a:ext cx="137160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291693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(30)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91640" y="2916936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3" name="Text 41"/>
          <p:cNvSpPr/>
          <p:nvPr/>
        </p:nvSpPr>
        <p:spPr>
          <a:xfrm>
            <a:off x="1691640" y="2916936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108960" y="2916936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5" name="Text 43"/>
          <p:cNvSpPr/>
          <p:nvPr/>
        </p:nvSpPr>
        <p:spPr>
          <a:xfrm>
            <a:off x="3108960" y="2916936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26280" y="2916936"/>
            <a:ext cx="1417320" cy="62179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2916936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0" y="2916936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0" y="2916936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60920" y="2916936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1" name="Text 49"/>
          <p:cNvSpPr/>
          <p:nvPr/>
        </p:nvSpPr>
        <p:spPr>
          <a:xfrm>
            <a:off x="7360920" y="2916936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538728"/>
            <a:ext cx="137160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353872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(40)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691640" y="3538728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5" name="Text 53"/>
          <p:cNvSpPr/>
          <p:nvPr/>
        </p:nvSpPr>
        <p:spPr>
          <a:xfrm>
            <a:off x="1691640" y="35387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108960" y="3538728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7" name="Text 55"/>
          <p:cNvSpPr/>
          <p:nvPr/>
        </p:nvSpPr>
        <p:spPr>
          <a:xfrm>
            <a:off x="3108960" y="35387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26280" y="3538728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9" name="Text 57"/>
          <p:cNvSpPr/>
          <p:nvPr/>
        </p:nvSpPr>
        <p:spPr>
          <a:xfrm>
            <a:off x="4526280" y="35387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943600" y="3538728"/>
            <a:ext cx="141732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1" name="Text 59"/>
          <p:cNvSpPr/>
          <p:nvPr/>
        </p:nvSpPr>
        <p:spPr>
          <a:xfrm>
            <a:off x="5943600" y="35387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60920" y="3538728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3" name="Text 61"/>
          <p:cNvSpPr/>
          <p:nvPr/>
        </p:nvSpPr>
        <p:spPr>
          <a:xfrm>
            <a:off x="7360920" y="35387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4160520"/>
            <a:ext cx="137160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160520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(50)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91640" y="4160520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7" name="Text 65"/>
          <p:cNvSpPr/>
          <p:nvPr/>
        </p:nvSpPr>
        <p:spPr>
          <a:xfrm>
            <a:off x="1691640" y="416052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108960" y="4160520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9" name="Text 67"/>
          <p:cNvSpPr/>
          <p:nvPr/>
        </p:nvSpPr>
        <p:spPr>
          <a:xfrm>
            <a:off x="3108960" y="416052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26280" y="4160520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1" name="Text 69"/>
          <p:cNvSpPr/>
          <p:nvPr/>
        </p:nvSpPr>
        <p:spPr>
          <a:xfrm>
            <a:off x="4526280" y="416052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943600" y="4160520"/>
            <a:ext cx="1417320" cy="62179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3" name="Text 71"/>
          <p:cNvSpPr/>
          <p:nvPr/>
        </p:nvSpPr>
        <p:spPr>
          <a:xfrm>
            <a:off x="5943600" y="416052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Deny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360920" y="4160520"/>
            <a:ext cx="1417320" cy="62179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75" name="Text 73"/>
          <p:cNvSpPr/>
          <p:nvPr/>
        </p:nvSpPr>
        <p:spPr>
          <a:xfrm>
            <a:off x="7360920" y="416052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Allow  =  Traffic permitted     ✘ Deny  =  Traffic blocked by ACL     —  =  Same VLAN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Configuration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206240" cy="2926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338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ACL-FINANCE (MLS VLAN 20 SVI)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→ HR (192.168.4.0)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→ Guest (192.168.6.0)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 → POS (192.168.5.0)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 → any (internet)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10896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108960"/>
            <a:ext cx="4206240" cy="2926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1455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ACL-HR (MLS VLAN 30 SVI)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456432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→ Finance (192.168.3.0)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→ Guest (192.168.6.0)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 → POS (192.168.5.0)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 → any (internet)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5152" y="109728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097280"/>
            <a:ext cx="4206240" cy="2926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11338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ACL-GUEST (Router0 fa0/1)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icmp echo → Admin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icmp echo → Finance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icmp echo → HR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icmp echo → POS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 ip any any (return traffic)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5152" y="310896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3108960"/>
            <a:ext cx="4206240" cy="2926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31455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 Principle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56432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ACLs applied inbound on SVI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 traffic before routing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 ACL on Router fa0/1 since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 switch bypasses the MLS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Testing 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93192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4206240"/>
              </a:tblGrid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PC0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PC2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PC0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PC4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PC0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8.8.8.8 (Internet)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PC2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PC4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– ACL-FINANCE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PC2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PC5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PC4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PC2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– ACL-HR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PC4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PC5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PC6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PC0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– ACL-GUEST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PC6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8.8.8.8 (Internet)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– blocked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Server1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PC2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Guide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128016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fails between VLANs where it should succeed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ip routing on MLS; check trunk links; confirm SVIs are up/up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46504"/>
            <a:ext cx="8595360" cy="566928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746504"/>
            <a:ext cx="128016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922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not filtering traffic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ACL applied to correct interface/direction; check hit counters with show ip access-lists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395728"/>
            <a:ext cx="128016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41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can still reach internal VLANs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ACL-GUEST is on Router0 fa0/1 (inbound), not on MLS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44952"/>
            <a:ext cx="8595360" cy="566928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044952"/>
            <a:ext cx="128016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90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can reach HR (should be blocked)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3467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ACL-FINANCE lines are in correct order; ACLs process top-down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94176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694176"/>
            <a:ext cx="128016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39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fails for all VLANs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9959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default route toward ISP; verify NAT/PAT configuration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4343400"/>
            <a:ext cx="128016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389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ports not passing VLANs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451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show vlan brief to confirm VLANs exist; check allowed VLAN list on trunks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hierarchical three-tier enterprise network in Cisco Packet Tracer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5 VLANs with dedicated /24 subnets and inter-VLAN routing via SVIs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extended named ACLs on the Multilayer Switch and Router to enforce departmental isolation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isolated the Guest VLAN from internal resources and the internet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policies through PDU simulation and ping test matrix with expected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full configuration, verification commands, and troubleshooting guide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297680"/>
            <a:ext cx="82296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NetZone  ·  Network Segmentation &amp; Access Control  ·  Cisco Packet Tracer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NetZone – Network Segmentation and Access Control Design</dc:title>
  <dc:subject>PptxGenJS Presentation</dc:subject>
  <dc:creator>PptxGenJS</dc:creator>
  <cp:lastModifiedBy>PptxGenJS</cp:lastModifiedBy>
  <cp:revision>1</cp:revision>
  <dcterms:created xsi:type="dcterms:W3CDTF">2026-05-10T21:38:46Z</dcterms:created>
  <dcterms:modified xsi:type="dcterms:W3CDTF">2026-05-10T21:38:46Z</dcterms:modified>
</cp:coreProperties>
</file>